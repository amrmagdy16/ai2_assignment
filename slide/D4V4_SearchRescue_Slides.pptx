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 — say your name once at the start, then move on quickly. Line: 'My project is D4-V4, Search and Rescue with Heterogeneous Sensing — a team of robots where no robot carries every sensor.'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~2 minutes total for this section. Say: 'Picture a damaged building — rooms connected by a hallway. A team of robots has to find victims and get them out, but rooms might have toxic gas, so a room has to be declared safe before anyone goes in.' Point at the little diagram on the right — that's literally the map used in the demo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Finish the section here. Say: 'Thermal finds the heat, visual confirms it's a victim, gas declares the room safe — and no robot has all three. Rescue needs all three pieces of knowledge, so the planner is forced to coordinate the team. That's the whole point of heterogeneous sensing.'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in your own words, don't read the slide: 'Each sensor action doesn't change the world — it just adds knowledge. Visual-identify can't fire until detected is already true, so the order comes from the preconditions, not from me writing a script. Rescue at the end checks all three knowledge predicates at once.'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'I validated two instances. Problem A is the control case — one robot with every sensor, just to show the sensing order. Problem B is the real test — three specialised robots and two victims. The planner has to figure out, on its own, that all three robots must visit each room before a rescue is legal.'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'Now the gas isn't static — a process raises it while a room is a source, another process lets a robot ventilate it down. Two events run automatically: gas spreading into the hallway, and a failure event if a victim is left in lethal gas. The important line is the rescue precondition — it now checks the LIVE gas level, not just whether the room was once swept. That's what forces sensing and dynamics to interact.'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 moment 1. Either run this in the browser editor now, or talk through this exact captured plan: 'BFWS finds the minimal 5-step plan — move into the room, then the three sensing actions in their forced order, then rescue.'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 moment 2 — this is the slide that proves the PDDL+ model actually works. Say: 'roomA starts too gassy to enter safely. The robots sense everything at time zero, but rescue is illegal yet — so the planner turns on the fan and WAITS. That waiting line is the proof that the continuous process, not an action, is what makes the room safe. If I run it live now, you'll see the exact same plan.' Run the real ENHSP command here if doing a live run, or show the terminal recording.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content section. Say: 'The hardest part wasn't the PDDL itself — it was the toolchain and choosing thresholds that produce an interesting plan instead of a trivial or an impossible one. The honest limitation is that sensing here is perfect and instantaneous; a real robot would need a belief-space model. That's deliberate — the model's power comes from what it hides.'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Stop talking once this slide is up — invite questions and let the silence do the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C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AI4RO2 · 2026 PROJECT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Rescue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22960" y="21031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46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Heterogeneous Sensing — PDDL &amp; PDDL+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22960" y="2697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D4-V4 · Classical model (Q1) and a dynamic-hazard PDDL+ extension (Q2)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878428" y="3634740"/>
            <a:ext cx="1051560" cy="1051560"/>
          </a:xfrm>
          <a:prstGeom prst="ellipse">
            <a:avLst/>
          </a:prstGeom>
          <a:solidFill>
            <a:srgbClr val="F4623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36162" y="3792474"/>
            <a:ext cx="736092" cy="7360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489808" y="48508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570068" y="3634740"/>
            <a:ext cx="1051560" cy="1051560"/>
          </a:xfrm>
          <a:prstGeom prst="ellipse">
            <a:avLst/>
          </a:prstGeom>
          <a:solidFill>
            <a:srgbClr val="FFC145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7802" y="3792474"/>
            <a:ext cx="736092" cy="73609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181448" y="48508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7261708" y="3634740"/>
            <a:ext cx="1051560" cy="1051560"/>
          </a:xfrm>
          <a:prstGeom prst="ellipse">
            <a:avLst/>
          </a:prstGeom>
          <a:solidFill>
            <a:srgbClr val="2E3A4D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9442" y="3792474"/>
            <a:ext cx="736092" cy="73609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873088" y="48508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 Magdy Mohamed Elsayed Abdalla   ·   ID S8082888   ·   github.com/amrmagdy16/AI2_Assignment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F46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DOMAIN OVERVIEW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10271455" y="365760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1C2A3A"/>
          </a:solidFill>
          <a:ln/>
        </p:spPr>
      </p:sp>
      <p:sp>
        <p:nvSpPr>
          <p:cNvPr id="4" name="Text 2"/>
          <p:cNvSpPr/>
          <p:nvPr/>
        </p:nvSpPr>
        <p:spPr>
          <a:xfrm>
            <a:off x="10271455" y="3657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C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MIN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Building, Three Sensors, No Robot Has Them All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57784" y="1837944"/>
            <a:ext cx="713232" cy="713232"/>
          </a:xfrm>
          <a:prstGeom prst="ellipse">
            <a:avLst/>
          </a:prstGeom>
          <a:solidFill>
            <a:srgbClr val="F4623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769" y="1944929"/>
            <a:ext cx="499262" cy="49926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8745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partially damaged building, modelled as a graph of rooms connected by doorways.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57784" y="3026664"/>
            <a:ext cx="713232" cy="713232"/>
          </a:xfrm>
          <a:prstGeom prst="ellipse">
            <a:avLst/>
          </a:prstGeom>
          <a:solidFill>
            <a:srgbClr val="F4623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769" y="3133649"/>
            <a:ext cx="499262" cy="49926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306324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team of mobile rescue robots must detect victims and extract them safely.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557784" y="4215384"/>
            <a:ext cx="713232" cy="713232"/>
          </a:xfrm>
          <a:prstGeom prst="ellipse">
            <a:avLst/>
          </a:prstGeom>
          <a:solidFill>
            <a:srgbClr val="F4623A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769" y="4322369"/>
            <a:ext cx="499262" cy="49926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425196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Rooms may contain hazardous gas — a room must be confirmed safe before rescue.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6675120" y="1783080"/>
            <a:ext cx="498348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0F14">
                <a:alpha val="18000"/>
              </a:srgbClr>
            </a:outerShdw>
          </a:effectLst>
        </p:spPr>
      </p:sp>
      <p:sp>
        <p:nvSpPr>
          <p:cNvPr id="16" name="Text 11"/>
          <p:cNvSpPr/>
          <p:nvPr/>
        </p:nvSpPr>
        <p:spPr>
          <a:xfrm>
            <a:off x="6949440" y="1920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TOPOLOGY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7598664" y="3566160"/>
            <a:ext cx="713232" cy="0"/>
          </a:xfrm>
          <a:prstGeom prst="line">
            <a:avLst/>
          </a:prstGeom>
          <a:noFill/>
          <a:ln w="31750">
            <a:solidFill>
              <a:srgbClr val="DCE1E6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8641080" y="2743200"/>
            <a:ext cx="0" cy="438912"/>
          </a:xfrm>
          <a:prstGeom prst="line">
            <a:avLst/>
          </a:prstGeom>
          <a:noFill/>
          <a:ln w="31750">
            <a:solidFill>
              <a:srgbClr val="DCE1E6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641080" y="2743200"/>
            <a:ext cx="1362456" cy="0"/>
          </a:xfrm>
          <a:prstGeom prst="line">
            <a:avLst/>
          </a:prstGeom>
          <a:noFill/>
          <a:ln w="31750">
            <a:solidFill>
              <a:srgbClr val="DCE1E6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641080" y="3950208"/>
            <a:ext cx="0" cy="438912"/>
          </a:xfrm>
          <a:prstGeom prst="line">
            <a:avLst/>
          </a:prstGeom>
          <a:noFill/>
          <a:ln w="31750">
            <a:solidFill>
              <a:srgbClr val="DCE1E6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641080" y="4389120"/>
            <a:ext cx="1362456" cy="0"/>
          </a:xfrm>
          <a:prstGeom prst="line">
            <a:avLst/>
          </a:prstGeom>
          <a:noFill/>
          <a:ln w="31750">
            <a:solidFill>
              <a:srgbClr val="DCE1E6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940296" y="3236976"/>
            <a:ext cx="658368" cy="658368"/>
          </a:xfrm>
          <a:prstGeom prst="ellipse">
            <a:avLst/>
          </a:prstGeom>
          <a:solidFill>
            <a:srgbClr val="F4F6F8"/>
          </a:solidFill>
          <a:ln w="19050">
            <a:solidFill>
              <a:srgbClr val="DCE1E6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6492240" y="39319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Entrance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8257032" y="3182112"/>
            <a:ext cx="768096" cy="768096"/>
          </a:xfrm>
          <a:prstGeom prst="ellipse">
            <a:avLst/>
          </a:prstGeom>
          <a:solidFill>
            <a:srgbClr val="F4F6F8"/>
          </a:solidFill>
          <a:ln w="19050">
            <a:solidFill>
              <a:srgbClr val="DCE1E6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7863840" y="398678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Hallway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10003536" y="2322576"/>
            <a:ext cx="841248" cy="841248"/>
          </a:xfrm>
          <a:prstGeom prst="ellipse">
            <a:avLst/>
          </a:prstGeom>
          <a:solidFill>
            <a:srgbClr val="1C2A3A"/>
          </a:solidFill>
          <a:ln w="19050">
            <a:solidFill>
              <a:srgbClr val="DCE1E6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9646920" y="32004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A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10003536" y="3968496"/>
            <a:ext cx="841248" cy="841248"/>
          </a:xfrm>
          <a:prstGeom prst="ellipse">
            <a:avLst/>
          </a:prstGeom>
          <a:solidFill>
            <a:srgbClr val="1C2A3A"/>
          </a:solidFill>
          <a:ln w="19050">
            <a:solidFill>
              <a:srgbClr val="DCE1E6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9646920" y="4846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B</a:t>
            </a:r>
            <a:endParaRPr lang="en-US" sz="1050" dirty="0"/>
          </a:p>
        </p:txBody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9568" y="2578608"/>
            <a:ext cx="329184" cy="329184"/>
          </a:xfrm>
          <a:prstGeom prst="rect">
            <a:avLst/>
          </a:prstGeom>
        </p:spPr>
      </p:pic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9568" y="4224528"/>
            <a:ext cx="329184" cy="32918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6949440" y="5486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victims, two rooms — reached only through a shared hallway.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F46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DOMAIN OVERVIEW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Robot Carries Every Sensor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5168" y="1874520"/>
            <a:ext cx="338328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0F14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66748" y="2171700"/>
            <a:ext cx="960120" cy="960120"/>
          </a:xfrm>
          <a:prstGeom prst="ellipse">
            <a:avLst/>
          </a:prstGeom>
          <a:solidFill>
            <a:srgbClr val="F4623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0766" y="2315718"/>
            <a:ext cx="672084" cy="6720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5168" y="32918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150" kern="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29488" y="370332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a heat signature →  produces  detected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404208" y="1874520"/>
            <a:ext cx="338328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0F14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15788" y="2171700"/>
            <a:ext cx="960120" cy="960120"/>
          </a:xfrm>
          <a:prstGeom prst="ellipse">
            <a:avLst/>
          </a:prstGeom>
          <a:solidFill>
            <a:srgbClr val="FFC14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9806" y="2315718"/>
            <a:ext cx="672084" cy="6720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04208" y="32918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150" kern="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678528" y="370332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it is really a victim →  produces  identified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53248" y="1874520"/>
            <a:ext cx="338328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0F14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364828" y="2171700"/>
            <a:ext cx="960120" cy="960120"/>
          </a:xfrm>
          <a:prstGeom prst="ellipse">
            <a:avLst/>
          </a:prstGeom>
          <a:solidFill>
            <a:srgbClr val="2E3A4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8846" y="2315718"/>
            <a:ext cx="672084" cy="6720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53248" y="32918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150" kern="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427568" y="370332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Sweeps the room for hazard →  produces  gas-checked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55168" y="4892040"/>
            <a:ext cx="10881360" cy="960120"/>
          </a:xfrm>
          <a:prstGeom prst="roundRect">
            <a:avLst>
              <a:gd name="adj" fmla="val 11429"/>
            </a:avLst>
          </a:prstGeom>
          <a:solidFill>
            <a:srgbClr val="1C2A3A"/>
          </a:solidFill>
          <a:ln/>
          <a:effectLst>
            <a:outerShdw sx="100000" sy="100000" kx="0" ky="0" algn="bl" rotWithShape="0" blurRad="127000" dist="38100" dir="5400000">
              <a:srgbClr val="0B0F14">
                <a:alpha val="18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1020928" y="4892040"/>
            <a:ext cx="10149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C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rescue</a:t>
            </a:r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requires all three knowledge predicates at once  →  </a:t>
            </a:r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cooperation is forced by the model, not scripted by the author.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F46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PDDL / PDDL+ DESIGN CHOICES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10271455" y="365760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1C2A3A"/>
          </a:solidFill>
          <a:ln/>
        </p:spPr>
      </p:sp>
      <p:sp>
        <p:nvSpPr>
          <p:cNvPr id="4" name="Text 2"/>
          <p:cNvSpPr/>
          <p:nvPr/>
        </p:nvSpPr>
        <p:spPr>
          <a:xfrm>
            <a:off x="10271455" y="3657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C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MIN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— Sensing Produces Knowledge, Not Just Facts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815188" y="1874520"/>
            <a:ext cx="23317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0F14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24432" y="2084832"/>
            <a:ext cx="713232" cy="713232"/>
          </a:xfrm>
          <a:prstGeom prst="ellipse">
            <a:avLst/>
          </a:prstGeom>
          <a:solidFill>
            <a:srgbClr val="F4623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1416" y="2191817"/>
            <a:ext cx="499262" cy="49926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15188" y="286207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C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thermal-scan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15188" y="320040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detected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3165196" y="2377440"/>
            <a:ext cx="374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6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3558388" y="1874520"/>
            <a:ext cx="23317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0F14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67632" y="2084832"/>
            <a:ext cx="713232" cy="713232"/>
          </a:xfrm>
          <a:prstGeom prst="ellipse">
            <a:avLst/>
          </a:prstGeom>
          <a:solidFill>
            <a:srgbClr val="FFC14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4616" y="2191817"/>
            <a:ext cx="499262" cy="49926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58388" y="286207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C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visual-identify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3558388" y="320040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identified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5908396" y="2377440"/>
            <a:ext cx="374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6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8" name="Shape 14"/>
          <p:cNvSpPr/>
          <p:nvPr/>
        </p:nvSpPr>
        <p:spPr>
          <a:xfrm>
            <a:off x="6301588" y="1874520"/>
            <a:ext cx="23317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0F14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110832" y="2084832"/>
            <a:ext cx="713232" cy="713232"/>
          </a:xfrm>
          <a:prstGeom prst="ellipse">
            <a:avLst/>
          </a:prstGeom>
          <a:solidFill>
            <a:srgbClr val="2E3A4D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7816" y="2191817"/>
            <a:ext cx="499262" cy="49926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301588" y="286207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C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gas-sweep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6301588" y="320040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gas-checked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8651596" y="2377440"/>
            <a:ext cx="374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6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4" name="Shape 19"/>
          <p:cNvSpPr/>
          <p:nvPr/>
        </p:nvSpPr>
        <p:spPr>
          <a:xfrm>
            <a:off x="9044788" y="1874520"/>
            <a:ext cx="2331720" cy="1691640"/>
          </a:xfrm>
          <a:prstGeom prst="roundRect">
            <a:avLst>
              <a:gd name="adj" fmla="val 5405"/>
            </a:avLst>
          </a:prstGeom>
          <a:solidFill>
            <a:srgbClr val="1C2A3A"/>
          </a:solidFill>
          <a:ln/>
          <a:effectLst>
            <a:outerShdw sx="100000" sy="100000" kx="0" ky="0" algn="bl" rotWithShape="0" blurRad="127000" dist="38100" dir="5400000">
              <a:srgbClr val="0B0F14">
                <a:alpha val="18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9854032" y="2084832"/>
            <a:ext cx="713232" cy="713232"/>
          </a:xfrm>
          <a:prstGeom prst="ellipse">
            <a:avLst/>
          </a:prstGeom>
          <a:solidFill>
            <a:srgbClr val="FFC145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1016" y="2191817"/>
            <a:ext cx="499262" cy="49926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044788" y="286207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rescue</a:t>
            </a:r>
            <a:endParaRPr lang="en-US" sz="1350" dirty="0"/>
          </a:p>
        </p:txBody>
      </p:sp>
      <p:sp>
        <p:nvSpPr>
          <p:cNvPr id="28" name="Text 22"/>
          <p:cNvSpPr/>
          <p:nvPr/>
        </p:nvSpPr>
        <p:spPr>
          <a:xfrm>
            <a:off x="9044788" y="320040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C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rescued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815188" y="3840480"/>
            <a:ext cx="10561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is never written explicitly — it emerges from preconditions: visual-identify requires detected to already hold.</a:t>
            </a:r>
            <a:endParaRPr lang="en-US" sz="1350" dirty="0"/>
          </a:p>
        </p:txBody>
      </p:sp>
      <p:sp>
        <p:nvSpPr>
          <p:cNvPr id="30" name="Shape 24"/>
          <p:cNvSpPr/>
          <p:nvPr/>
        </p:nvSpPr>
        <p:spPr>
          <a:xfrm>
            <a:off x="815188" y="4343400"/>
            <a:ext cx="10561320" cy="1051560"/>
          </a:xfrm>
          <a:prstGeom prst="roundRect">
            <a:avLst>
              <a:gd name="adj" fmla="val 8696"/>
            </a:avLst>
          </a:prstGeom>
          <a:solidFill>
            <a:srgbClr val="1C2A3A"/>
          </a:solidFill>
          <a:ln/>
          <a:effectLst>
            <a:outerShdw sx="100000" sy="100000" kx="0" ky="0" algn="bl" rotWithShape="0" blurRad="127000" dist="38100" dir="5400000">
              <a:srgbClr val="0B0F14">
                <a:alpha val="18000"/>
              </a:srgbClr>
            </a:outerShdw>
          </a:effectLst>
        </p:spPr>
      </p:sp>
      <p:sp>
        <p:nvSpPr>
          <p:cNvPr id="31" name="Text 25"/>
          <p:cNvSpPr/>
          <p:nvPr/>
        </p:nvSpPr>
        <p:spPr>
          <a:xfrm>
            <a:off x="1135228" y="4544568"/>
            <a:ext cx="99212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DE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(:action rescue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DE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:precondition (and (at ?r ?l) (victim-in ?v ?l) (identified ?v) (gas-checked ?l))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DE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:effect (and (rescued ?v)))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F46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PDDL / PDDL+ DESIGN CHOICES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Problems: Trivial vs. Cooperative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5168" y="1828800"/>
            <a:ext cx="512064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0F14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20928" y="2148840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F4623A"/>
          </a:solidFill>
          <a:ln/>
        </p:spPr>
      </p:sp>
      <p:sp>
        <p:nvSpPr>
          <p:cNvPr id="6" name="Text 4"/>
          <p:cNvSpPr/>
          <p:nvPr/>
        </p:nvSpPr>
        <p:spPr>
          <a:xfrm>
            <a:off x="1020928" y="214884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20928" y="26060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Trivial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449928" y="2423160"/>
            <a:ext cx="822960" cy="822960"/>
          </a:xfrm>
          <a:prstGeom prst="ellipse">
            <a:avLst/>
          </a:prstGeom>
          <a:solidFill>
            <a:srgbClr val="2E3A4D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3372" y="2546604"/>
            <a:ext cx="576072" cy="5760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20928" y="324612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5800" dirty="0"/>
          </a:p>
        </p:txBody>
      </p:sp>
      <p:sp>
        <p:nvSpPr>
          <p:cNvPr id="11" name="Text 8"/>
          <p:cNvSpPr/>
          <p:nvPr/>
        </p:nvSpPr>
        <p:spPr>
          <a:xfrm>
            <a:off x="1020928" y="42245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20928" y="466344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fully-equipped robot. Sensing still imposes an order, but no coordination is needed.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415888" y="1828800"/>
            <a:ext cx="5120640" cy="3977640"/>
          </a:xfrm>
          <a:prstGeom prst="roundRect">
            <a:avLst>
              <a:gd name="adj" fmla="val 2299"/>
            </a:avLst>
          </a:prstGeom>
          <a:solidFill>
            <a:srgbClr val="1C2A3A"/>
          </a:solidFill>
          <a:ln/>
          <a:effectLst>
            <a:outerShdw sx="100000" sy="100000" kx="0" ky="0" algn="bl" rotWithShape="0" blurRad="127000" dist="38100" dir="5400000">
              <a:srgbClr val="0B0F14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781648" y="2148840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FFC145"/>
          </a:solidFill>
          <a:ln/>
        </p:spPr>
      </p:sp>
      <p:sp>
        <p:nvSpPr>
          <p:cNvPr id="15" name="Text 12"/>
          <p:cNvSpPr/>
          <p:nvPr/>
        </p:nvSpPr>
        <p:spPr>
          <a:xfrm>
            <a:off x="6781648" y="214884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B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781648" y="26060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Cooperative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9799168" y="2514600"/>
            <a:ext cx="640080" cy="640080"/>
          </a:xfrm>
          <a:prstGeom prst="ellipse">
            <a:avLst/>
          </a:prstGeom>
          <a:solidFill>
            <a:srgbClr val="F4623A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5180" y="2610612"/>
            <a:ext cx="448056" cy="448056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10302088" y="2514600"/>
            <a:ext cx="640080" cy="640080"/>
          </a:xfrm>
          <a:prstGeom prst="ellipse">
            <a:avLst/>
          </a:prstGeom>
          <a:solidFill>
            <a:srgbClr val="FFC145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8100" y="2610612"/>
            <a:ext cx="448056" cy="448056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10805008" y="2514600"/>
            <a:ext cx="640080" cy="640080"/>
          </a:xfrm>
          <a:prstGeom prst="ellipse">
            <a:avLst/>
          </a:prstGeom>
          <a:solidFill>
            <a:srgbClr val="2E3A4D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01020" y="2610612"/>
            <a:ext cx="448056" cy="44805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781648" y="32461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C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5800" dirty="0"/>
          </a:p>
        </p:txBody>
      </p:sp>
      <p:sp>
        <p:nvSpPr>
          <p:cNvPr id="24" name="Text 18"/>
          <p:cNvSpPr/>
          <p:nvPr/>
        </p:nvSpPr>
        <p:spPr>
          <a:xfrm>
            <a:off x="6781648" y="42245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6781648" y="466344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single-sensor robots, two victims. All three must converge on each room before either is rescued.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F46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PDDL / PDDL+ DESIGN CHOICES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— The Hazard Now Evolves While You Plan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1452" y="1783080"/>
            <a:ext cx="2542032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0F14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6044" y="1929384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F4623A"/>
          </a:solidFill>
          <a:ln/>
        </p:spPr>
      </p:sp>
      <p:sp>
        <p:nvSpPr>
          <p:cNvPr id="6" name="Text 4"/>
          <p:cNvSpPr/>
          <p:nvPr/>
        </p:nvSpPr>
        <p:spPr>
          <a:xfrm>
            <a:off x="806044" y="1929384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06044" y="2350008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gas-buildup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06044" y="2743200"/>
            <a:ext cx="2212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/ time unit while a room is an active source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3430372" y="1783080"/>
            <a:ext cx="2542032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0F14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94964" y="1929384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F4623A"/>
          </a:solidFill>
          <a:ln/>
        </p:spPr>
      </p:sp>
      <p:sp>
        <p:nvSpPr>
          <p:cNvPr id="11" name="Text 9"/>
          <p:cNvSpPr/>
          <p:nvPr/>
        </p:nvSpPr>
        <p:spPr>
          <a:xfrm>
            <a:off x="3594964" y="1929384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594964" y="2350008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gas-ventilation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594964" y="2743200"/>
            <a:ext cx="2212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 / time unit while the extractor fan is on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6219292" y="1783080"/>
            <a:ext cx="2542032" cy="1691640"/>
          </a:xfrm>
          <a:prstGeom prst="roundRect">
            <a:avLst>
              <a:gd name="adj" fmla="val 5405"/>
            </a:avLst>
          </a:prstGeom>
          <a:solidFill>
            <a:srgbClr val="1C2A3A"/>
          </a:solidFill>
          <a:ln/>
          <a:effectLst>
            <a:outerShdw sx="100000" sy="100000" kx="0" ky="0" algn="bl" rotWithShape="0" blurRad="127000" dist="38100" dir="5400000">
              <a:srgbClr val="0B0F14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83884" y="1929384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FFC145"/>
          </a:solidFill>
          <a:ln/>
        </p:spPr>
      </p:sp>
      <p:sp>
        <p:nvSpPr>
          <p:cNvPr id="16" name="Text 14"/>
          <p:cNvSpPr/>
          <p:nvPr/>
        </p:nvSpPr>
        <p:spPr>
          <a:xfrm>
            <a:off x="6383884" y="1929384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383884" y="2350008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gas-spreads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383884" y="2743200"/>
            <a:ext cx="2212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≥ 8  →  seeps into a clean neighbour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9008212" y="1783080"/>
            <a:ext cx="2542032" cy="1691640"/>
          </a:xfrm>
          <a:prstGeom prst="roundRect">
            <a:avLst>
              <a:gd name="adj" fmla="val 5405"/>
            </a:avLst>
          </a:prstGeom>
          <a:solidFill>
            <a:srgbClr val="1C2A3A"/>
          </a:solidFill>
          <a:ln/>
          <a:effectLst>
            <a:outerShdw sx="100000" sy="100000" kx="0" ky="0" algn="bl" rotWithShape="0" blurRad="127000" dist="38100" dir="5400000">
              <a:srgbClr val="0B0F14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72804" y="1929384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FFC145"/>
          </a:solidFill>
          <a:ln/>
        </p:spPr>
      </p:sp>
      <p:sp>
        <p:nvSpPr>
          <p:cNvPr id="21" name="Text 19"/>
          <p:cNvSpPr/>
          <p:nvPr/>
        </p:nvSpPr>
        <p:spPr>
          <a:xfrm>
            <a:off x="9172804" y="1929384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9172804" y="2350008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victim-lost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172804" y="2743200"/>
            <a:ext cx="2212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≥ 10  →  victim becomes unrecoverable (FAILURE)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641452" y="3840480"/>
            <a:ext cx="10908792" cy="1691640"/>
          </a:xfrm>
          <a:prstGeom prst="roundRect">
            <a:avLst>
              <a:gd name="adj" fmla="val 6486"/>
            </a:avLst>
          </a:prstGeom>
          <a:solidFill>
            <a:srgbClr val="1C2A3A"/>
          </a:solidFill>
          <a:ln/>
          <a:effectLst>
            <a:outerShdw sx="100000" sy="100000" kx="0" ky="0" algn="bl" rotWithShape="0" blurRad="127000" dist="38100" dir="5400000">
              <a:srgbClr val="0B0F14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007212" y="3977640"/>
            <a:ext cx="1017727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coupling:  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C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rescue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now also requires  </a:t>
            </a:r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C1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(&lt; (gas-level ?l) 5)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live, not historical.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7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gas-sweep is only a snapshot. Because the level keeps changing, the planner must reason about </a:t>
            </a:r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C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7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room is safe — not just whether it was once checked.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F46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/ PLAN OUTPUT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10271455" y="365760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1C2A3A"/>
          </a:solidFill>
          <a:ln/>
        </p:spPr>
      </p:sp>
      <p:sp>
        <p:nvSpPr>
          <p:cNvPr id="4" name="Text 2"/>
          <p:cNvSpPr/>
          <p:nvPr/>
        </p:nvSpPr>
        <p:spPr>
          <a:xfrm>
            <a:off x="10271455" y="3657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C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MIN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the Trivial Plan with BFWS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6126480" cy="4069080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0F14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9659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PLAN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914400" y="2331720"/>
            <a:ext cx="5577840" cy="475488"/>
          </a:xfrm>
          <a:prstGeom prst="roundRect">
            <a:avLst>
              <a:gd name="adj" fmla="val 11538"/>
            </a:avLst>
          </a:prstGeom>
          <a:solidFill>
            <a:srgbClr val="F4F6F8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2331720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508760" y="2331720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(move r1 entrance roomA)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4400" y="2898648"/>
            <a:ext cx="5577840" cy="475488"/>
          </a:xfrm>
          <a:prstGeom prst="roundRect">
            <a:avLst>
              <a:gd name="adj" fmla="val 11538"/>
            </a:avLst>
          </a:prstGeom>
          <a:solidFill>
            <a:srgbClr val="F4F6F8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2898648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508760" y="2898648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(thermal-scan r1 v1 roomA)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14400" y="3465576"/>
            <a:ext cx="5577840" cy="475488"/>
          </a:xfrm>
          <a:prstGeom prst="roundRect">
            <a:avLst>
              <a:gd name="adj" fmla="val 11538"/>
            </a:avLst>
          </a:prstGeom>
          <a:solidFill>
            <a:srgbClr val="F4F6F8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3465576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508760" y="3465576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(visual-identify r1 v1 roomA)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14400" y="4032504"/>
            <a:ext cx="5577840" cy="475488"/>
          </a:xfrm>
          <a:prstGeom prst="roundRect">
            <a:avLst>
              <a:gd name="adj" fmla="val 11538"/>
            </a:avLst>
          </a:prstGeom>
          <a:solidFill>
            <a:srgbClr val="F4F6F8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4032504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508760" y="4032504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(gas-sweep r1 roomA)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14400" y="4599432"/>
            <a:ext cx="5577840" cy="475488"/>
          </a:xfrm>
          <a:prstGeom prst="roundRect">
            <a:avLst>
              <a:gd name="adj" fmla="val 11538"/>
            </a:avLst>
          </a:prstGeom>
          <a:solidFill>
            <a:srgbClr val="F4623A"/>
          </a:solidFill>
          <a:ln/>
        </p:spPr>
      </p:sp>
      <p:sp>
        <p:nvSpPr>
          <p:cNvPr id="21" name="Text 19"/>
          <p:cNvSpPr/>
          <p:nvPr/>
        </p:nvSpPr>
        <p:spPr>
          <a:xfrm>
            <a:off x="1051560" y="4599432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508760" y="4599432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(rescue r1 v1 roomA)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040880" y="1783080"/>
            <a:ext cx="4572000" cy="4069080"/>
          </a:xfrm>
          <a:prstGeom prst="roundRect">
            <a:avLst>
              <a:gd name="adj" fmla="val 2247"/>
            </a:avLst>
          </a:prstGeom>
          <a:solidFill>
            <a:srgbClr val="1C2A3A"/>
          </a:solidFill>
          <a:ln/>
          <a:effectLst>
            <a:outerShdw sx="100000" sy="100000" kx="0" ky="0" algn="bl" rotWithShape="0" blurRad="127000" dist="38100" dir="5400000">
              <a:srgbClr val="0B0F14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315200" y="20116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FFC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POINT OUT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0" y="2423160"/>
            <a:ext cx="3931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4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Planner: BFWS, via editor.planning.domains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4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steps = exactly the sensing chain: move → thermal → visual → gas → rescue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4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robot, all sensors — the control case before adding cooperation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F46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/ PLAN OUTPUT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It Wait — ENHSP on the PDDL+ Model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08792" cy="2377440"/>
          </a:xfrm>
          <a:prstGeom prst="roundRect">
            <a:avLst>
              <a:gd name="adj" fmla="val 3846"/>
            </a:avLst>
          </a:prstGeom>
          <a:solidFill>
            <a:srgbClr val="1C2A3A"/>
          </a:solidFill>
          <a:ln/>
          <a:effectLst>
            <a:outerShdw sx="100000" sy="100000" kx="0" ky="0" algn="bl" rotWithShape="0" blurRad="127000" dist="38100" dir="5400000">
              <a:srgbClr val="0B0F14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984248"/>
            <a:ext cx="10268712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7DE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    (move gasbot hallway roomA)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7DE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    (gas-sweep gasbot roomA)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7DE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    (start-ventilation gasbot roomA)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7DE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    (thermal-scan thermalbot v1 roomA)   (visual-identify visualbot v1 roomA)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C1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    -----waiting---- [1.0]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7DE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1.0:  (rescue thermalbot v1 roomA)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7DE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Plan-Length: 12     Elapsed Time: 1.0     Problem Solved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4343400"/>
            <a:ext cx="10908792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0F14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452628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roomA starts at gas-level 6 — above the safe-to-rescue limit of 5. 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Ventilation removes gas at 2/unit-time, </a:t>
            </a:r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46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planner deliberately WAITS one time unit 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rescuing — letting the world, not an action, make the room safe.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F46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10271455" y="365760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1C2A3A"/>
          </a:solidFill>
          <a:ln/>
        </p:spPr>
      </p:sp>
      <p:sp>
        <p:nvSpPr>
          <p:cNvPr id="4" name="Text 2"/>
          <p:cNvSpPr/>
          <p:nvPr/>
        </p:nvSpPr>
        <p:spPr>
          <a:xfrm>
            <a:off x="10271455" y="3657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C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MIN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Challenges, Limitations &amp; What's Next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32308" y="1828800"/>
            <a:ext cx="525780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0F14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52348" y="205740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46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52348" y="2514600"/>
            <a:ext cx="4617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Java/build versions so ENHSP would actually run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thresholds so a valid plan exists but the model still has to wait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Stopping the spread/failure events from firing by accident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01588" y="1828800"/>
            <a:ext cx="5257800" cy="3200400"/>
          </a:xfrm>
          <a:prstGeom prst="roundRect">
            <a:avLst>
              <a:gd name="adj" fmla="val 2857"/>
            </a:avLst>
          </a:prstGeom>
          <a:solidFill>
            <a:srgbClr val="1C2A3A"/>
          </a:solidFill>
          <a:ln/>
          <a:effectLst>
            <a:outerShdw sx="100000" sy="100000" kx="0" ky="0" algn="bl" rotWithShape="0" blurRad="127000" dist="38100" dir="5400000">
              <a:srgbClr val="0B0F14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21628" y="205740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FC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621628" y="2514600"/>
            <a:ext cx="4617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4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Sensing is perfect &amp; instantaneous — real perception needs a POMDP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4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spread is a discrete edge event, not true diffusion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4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motion costs no time — only the processes create urgency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32308" y="5303520"/>
            <a:ext cx="10927080" cy="868680"/>
          </a:xfrm>
          <a:prstGeom prst="roundRect">
            <a:avLst>
              <a:gd name="adj" fmla="val 10526"/>
            </a:avLst>
          </a:prstGeom>
          <a:solidFill>
            <a:srgbClr val="F4F6F8"/>
          </a:solidFill>
          <a:ln/>
          <a:effectLst>
            <a:outerShdw sx="100000" sy="100000" kx="0" ky="0" algn="bl" rotWithShape="0" blurRad="127000" dist="38100" dir="5400000">
              <a:srgbClr val="0B0F14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98068" y="5303520"/>
            <a:ext cx="10195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 is a contract — its power and its blind spots are the same choice.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5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01945" y="1737360"/>
            <a:ext cx="1188720" cy="1188720"/>
          </a:xfrm>
          <a:prstGeom prst="ellipse">
            <a:avLst/>
          </a:prstGeom>
          <a:solidFill>
            <a:srgbClr val="F4623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0253" y="1915668"/>
            <a:ext cx="832104" cy="8321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324612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822960" y="40690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46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22960" y="5669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D4-V4 — Search &amp; Rescue: Heterogeneous Sensing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 Magdy Mohamed Elsayed Abdalla   ·   ID S8082888   ·   github.com/amrmagdy16/AI2_Assignment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D4-V4 Search and Rescue - Heterogeneous Sensing</dc:title>
  <dc:subject>PptxGenJS Presentation</dc:subject>
  <dc:creator>Amr Magdy Mohamed Elsayed Abdalla</dc:creator>
  <cp:lastModifiedBy>Amr Magdy Mohamed Elsayed Abdalla</cp:lastModifiedBy>
  <cp:revision>1</cp:revision>
  <dcterms:created xsi:type="dcterms:W3CDTF">2026-06-17T14:12:47Z</dcterms:created>
  <dcterms:modified xsi:type="dcterms:W3CDTF">2026-06-17T14:12:47Z</dcterms:modified>
</cp:coreProperties>
</file>